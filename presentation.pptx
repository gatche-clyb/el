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Default Extension="wdp" ContentType="image/vnd.ms-photo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1" r:id="rId3"/>
    <p:sldId id="263" r:id="rId4"/>
    <p:sldId id="264" r:id="rId5"/>
    <p:sldId id="265" r:id="rId6"/>
    <p:sldId id="268" r:id="rId7"/>
    <p:sldId id="267" r:id="rId8"/>
    <p:sldId id="266" r:id="rId9"/>
    <p:sldId id="257" r:id="rId10"/>
    <p:sldId id="258" r:id="rId11"/>
    <p:sldId id="260" r:id="rId12"/>
    <p:sldId id="259" r:id="rId13"/>
    <p:sldId id="269" r:id="rId14"/>
    <p:sldId id="273" r:id="rId15"/>
    <p:sldId id="274" r:id="rId16"/>
    <p:sldId id="270" r:id="rId17"/>
    <p:sldId id="271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C4B1156A-380E-4F78-BDF5-A606A8083BF9}" styleName="Средний стиль 4 — акцент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 horzBarState="maximized">
    <p:restoredLeft sz="13846" autoAdjust="0"/>
    <p:restoredTop sz="94660"/>
  </p:normalViewPr>
  <p:slideViewPr>
    <p:cSldViewPr snapToGrid="0">
      <p:cViewPr varScale="1">
        <p:scale>
          <a:sx n="62" d="100"/>
          <a:sy n="62" d="100"/>
        </p:scale>
        <p:origin x="-784" y="-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5444347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937799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290934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6784261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42758638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546024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41060753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941093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7986458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6128762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736578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99CC25-1A4F-49B7-AAE7-A62458AB75E5}" type="datetimeFigureOut">
              <a:rPr lang="ru-RU" smtClean="0"/>
              <a:pPr/>
              <a:t>10.02.2026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F097D2-10E5-46D6-918B-E12795BEB8F8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931639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microsoft.com/office/2007/relationships/hdphoto" Target="../media/hdphoto3.wdp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ru-RU" dirty="0" smtClean="0">
                <a:latin typeface="Arial Black" panose="020B0A04020102020204" pitchFamily="34" charset="0"/>
              </a:rPr>
              <a:t>Программа-тренажёр для тренировки таблицы умножения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4911634" y="3602037"/>
            <a:ext cx="6818812" cy="3099209"/>
          </a:xfrm>
        </p:spPr>
        <p:txBody>
          <a:bodyPr>
            <a:noAutofit/>
          </a:bodyPr>
          <a:lstStyle/>
          <a:p>
            <a:pPr algn="r"/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Фирсова Мария</a:t>
            </a:r>
          </a:p>
          <a:p>
            <a:pPr algn="r"/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«Д» класс</a:t>
            </a:r>
          </a:p>
          <a:p>
            <a:pPr algn="r"/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ГБОУ школа №185</a:t>
            </a:r>
          </a:p>
          <a:p>
            <a:pPr algn="r"/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Руководитель – </a:t>
            </a:r>
          </a:p>
          <a:p>
            <a:pPr algn="r"/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Рыжова Светлана Фёдоровна</a:t>
            </a:r>
          </a:p>
          <a:p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042399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Актуальность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1400" y="1578882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ru-RU" sz="5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ru-RU" sz="5400" dirty="0" smtClean="0">
                <a:latin typeface="Arial" panose="020B0604020202020204" pitchFamily="34" charset="0"/>
                <a:cs typeface="Arial" panose="020B0604020202020204" pitchFamily="34" charset="0"/>
              </a:rPr>
              <a:t>Для успешного овладения таблицей умножения необходима длительная и регулярная тренировка. </a:t>
            </a:r>
            <a:endParaRPr lang="ru-RU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20371705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Цель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041400" y="1578882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lang="ru-RU" sz="5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lang="ru-RU" sz="5400" dirty="0">
                <a:latin typeface="Arial" panose="020B0604020202020204" pitchFamily="34" charset="0"/>
                <a:cs typeface="Arial" panose="020B0604020202020204" pitchFamily="34" charset="0"/>
              </a:rPr>
              <a:t>создать компьютерную программу-тренажёр для отработки таблицы </a:t>
            </a:r>
            <a:r>
              <a:rPr lang="ru-RU" sz="5400" dirty="0" smtClean="0">
                <a:latin typeface="Arial" panose="020B0604020202020204" pitchFamily="34" charset="0"/>
                <a:cs typeface="Arial" panose="020B0604020202020204" pitchFamily="34" charset="0"/>
              </a:rPr>
              <a:t>умножения</a:t>
            </a:r>
            <a:endParaRPr lang="ru-RU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34092910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Задачи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2857" y="1578881"/>
            <a:ext cx="11582400" cy="4981575"/>
          </a:xfrm>
        </p:spPr>
        <p:txBody>
          <a:bodyPr>
            <a:normAutofit/>
          </a:bodyPr>
          <a:lstStyle/>
          <a:p>
            <a:pPr lvl="0"/>
            <a:r>
              <a:rPr lang="ru-RU" sz="4300" dirty="0" smtClean="0">
                <a:latin typeface="Arial" panose="020B0604020202020204" pitchFamily="34" charset="0"/>
                <a:cs typeface="Arial" panose="020B0604020202020204" pitchFamily="34" charset="0"/>
              </a:rPr>
              <a:t>Выбрать </a:t>
            </a:r>
            <a:r>
              <a:rPr lang="ru-RU" sz="4300" dirty="0">
                <a:latin typeface="Arial" panose="020B0604020202020204" pitchFamily="34" charset="0"/>
                <a:cs typeface="Arial" panose="020B0604020202020204" pitchFamily="34" charset="0"/>
              </a:rPr>
              <a:t>язык программирования.</a:t>
            </a:r>
          </a:p>
          <a:p>
            <a:pPr lvl="0"/>
            <a:r>
              <a:rPr lang="ru-RU" sz="4300" dirty="0">
                <a:latin typeface="Arial" panose="020B0604020202020204" pitchFamily="34" charset="0"/>
                <a:cs typeface="Arial" panose="020B0604020202020204" pitchFamily="34" charset="0"/>
              </a:rPr>
              <a:t>Изучить основы этого языка.</a:t>
            </a:r>
          </a:p>
          <a:p>
            <a:pPr lvl="0"/>
            <a:r>
              <a:rPr lang="ru-RU" sz="4300" dirty="0">
                <a:latin typeface="Arial" panose="020B0604020202020204" pitchFamily="34" charset="0"/>
                <a:cs typeface="Arial" panose="020B0604020202020204" pitchFamily="34" charset="0"/>
              </a:rPr>
              <a:t>Определить возможности моей программы.</a:t>
            </a:r>
          </a:p>
          <a:p>
            <a:pPr lvl="0"/>
            <a:r>
              <a:rPr lang="ru-RU" sz="4300" dirty="0">
                <a:latin typeface="Arial" panose="020B0604020202020204" pitchFamily="34" charset="0"/>
                <a:cs typeface="Arial" panose="020B0604020202020204" pitchFamily="34" charset="0"/>
              </a:rPr>
              <a:t>Убедиться, что одноклассникам будет полезен такой тренажёр.</a:t>
            </a:r>
          </a:p>
          <a:p>
            <a:pPr lvl="0"/>
            <a:r>
              <a:rPr lang="ru-RU" sz="4300" dirty="0">
                <a:latin typeface="Arial" panose="020B0604020202020204" pitchFamily="34" charset="0"/>
                <a:cs typeface="Arial" panose="020B0604020202020204" pitchFamily="34" charset="0"/>
              </a:rPr>
              <a:t>Научить одноклассников пользоваться программой.</a:t>
            </a:r>
          </a:p>
        </p:txBody>
      </p:sp>
    </p:spTree>
    <p:extLst>
      <p:ext uri="{BB962C8B-B14F-4D97-AF65-F5344CB8AC3E}">
        <p14:creationId xmlns:p14="http://schemas.microsoft.com/office/powerpoint/2010/main" xmlns="" val="25761964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365125"/>
            <a:ext cx="121920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Выбор языка программирования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62857" y="1578881"/>
            <a:ext cx="11582400" cy="5279119"/>
          </a:xfrm>
        </p:spPr>
        <p:txBody>
          <a:bodyPr>
            <a:normAutofit lnSpcReduction="10000"/>
          </a:bodyPr>
          <a:lstStyle/>
          <a:p>
            <a:pPr lvl="0"/>
            <a:endParaRPr lang="en-US" sz="3600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3600" b="1" dirty="0" smtClean="0">
                <a:latin typeface="Arial" panose="020B0604020202020204" pitchFamily="34" charset="0"/>
                <a:cs typeface="Arial" panose="020B0604020202020204" pitchFamily="34" charset="0"/>
              </a:rPr>
              <a:t>Python</a:t>
            </a:r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удобен как «первый язык программирования». Он позволяет быстро начать писать работающие программы, не сильно углубляясь в устройство компьютера.</a:t>
            </a:r>
          </a:p>
          <a:p>
            <a:pPr lvl="0"/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Для него существует огромное количество внешних библиотек (которые легко доступны для поиска и установки) для расширения возможностей программ. </a:t>
            </a:r>
          </a:p>
          <a:p>
            <a:pPr lvl="0"/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Это настоящий (взрослый) язык программирования.</a:t>
            </a:r>
          </a:p>
        </p:txBody>
      </p:sp>
    </p:spTree>
    <p:extLst>
      <p:ext uri="{BB962C8B-B14F-4D97-AF65-F5344CB8AC3E}">
        <p14:creationId xmlns:p14="http://schemas.microsoft.com/office/powerpoint/2010/main" xmlns="" val="9459741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6545943" y="228431"/>
            <a:ext cx="5646056" cy="1462257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000" dirty="0">
                <a:latin typeface="Arial Black" panose="020B0A04020102020204" pitchFamily="34" charset="0"/>
              </a:rPr>
              <a:t>Н</a:t>
            </a:r>
            <a:r>
              <a:rPr lang="ru-RU" sz="6000" dirty="0" smtClean="0">
                <a:latin typeface="Arial Black" panose="020B0A04020102020204" pitchFamily="34" charset="0"/>
              </a:rPr>
              <a:t>астройки программы: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pic>
        <p:nvPicPr>
          <p:cNvPr id="1028" name="Picture 4" descr="Dungeons &amp; Dragons d20 System Saving throw Компьютерные иконки Dice,  другие, угол, прямоугольник png | PNGEgg"/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 xmlns="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-245406" y="-28248"/>
            <a:ext cx="6827520" cy="6707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Прямоугольник 6"/>
          <p:cNvSpPr/>
          <p:nvPr/>
        </p:nvSpPr>
        <p:spPr>
          <a:xfrm>
            <a:off x="2800077" y="2009392"/>
            <a:ext cx="1770741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4*6</a:t>
            </a:r>
            <a:endParaRPr lang="ru-RU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8" name="Прямоугольник 7"/>
          <p:cNvSpPr/>
          <p:nvPr/>
        </p:nvSpPr>
        <p:spPr>
          <a:xfrm rot="19620942">
            <a:off x="2814006" y="2602769"/>
            <a:ext cx="2258007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5.6 </a:t>
            </a:r>
            <a:r>
              <a:rPr lang="ru-RU" sz="5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сек</a:t>
            </a:r>
            <a:endParaRPr lang="ru-RU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739077" y="2536675"/>
            <a:ext cx="1770741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54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45:</a:t>
            </a:r>
            <a:r>
              <a:rPr lang="ru-RU" sz="54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9</a:t>
            </a:r>
            <a:endParaRPr lang="ru-RU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Прямоугольник 11"/>
          <p:cNvSpPr/>
          <p:nvPr/>
        </p:nvSpPr>
        <p:spPr>
          <a:xfrm rot="569956">
            <a:off x="763872" y="3317179"/>
            <a:ext cx="1986331" cy="76944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4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7</a:t>
            </a:r>
            <a:r>
              <a:rPr lang="en-US" sz="4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</a:t>
            </a:r>
            <a:r>
              <a:rPr lang="ru-RU" sz="4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4</a:t>
            </a:r>
            <a:r>
              <a:rPr lang="en-US" sz="4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44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сек</a:t>
            </a:r>
            <a:endParaRPr lang="ru-RU" sz="4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3" name="Прямоугольник 12"/>
          <p:cNvSpPr/>
          <p:nvPr/>
        </p:nvSpPr>
        <p:spPr>
          <a:xfrm rot="1652659">
            <a:off x="3348540" y="4476218"/>
            <a:ext cx="225800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400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8</a:t>
            </a:r>
            <a:r>
              <a:rPr lang="ru-RU" sz="40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.0сек</a:t>
            </a:r>
            <a:endParaRPr lang="ru-RU" sz="4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4" name="Прямоугольник 13"/>
          <p:cNvSpPr/>
          <p:nvPr/>
        </p:nvSpPr>
        <p:spPr>
          <a:xfrm rot="17855955">
            <a:off x="874413" y="4629431"/>
            <a:ext cx="1437721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54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</a:t>
            </a:r>
            <a:r>
              <a:rPr lang="en-US" sz="54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</a:t>
            </a:r>
            <a:r>
              <a:rPr lang="ru-RU" sz="54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6</a:t>
            </a:r>
            <a:endParaRPr lang="ru-RU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5" name="Прямоугольник 14"/>
          <p:cNvSpPr/>
          <p:nvPr/>
        </p:nvSpPr>
        <p:spPr>
          <a:xfrm rot="1652659">
            <a:off x="2689461" y="5184601"/>
            <a:ext cx="225800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40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2</a:t>
            </a:r>
            <a:r>
              <a:rPr lang="en-US" sz="40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</a:t>
            </a:r>
            <a:r>
              <a:rPr lang="ru-RU" sz="40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8</a:t>
            </a:r>
            <a:r>
              <a:rPr lang="en-US" sz="40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40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сек</a:t>
            </a:r>
            <a:endParaRPr lang="ru-RU" sz="40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6" name="Прямоугольник 15"/>
          <p:cNvSpPr/>
          <p:nvPr/>
        </p:nvSpPr>
        <p:spPr>
          <a:xfrm rot="17632165">
            <a:off x="779590" y="5075660"/>
            <a:ext cx="2761038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32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1</a:t>
            </a:r>
            <a:r>
              <a:rPr lang="en-US" sz="32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</a:t>
            </a:r>
            <a:r>
              <a:rPr lang="ru-RU" sz="32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9</a:t>
            </a:r>
            <a:r>
              <a:rPr lang="en-US" sz="32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32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сек</a:t>
            </a:r>
            <a:endParaRPr lang="ru-RU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17" name="Прямоугольник 16"/>
          <p:cNvSpPr/>
          <p:nvPr/>
        </p:nvSpPr>
        <p:spPr>
          <a:xfrm rot="1052360">
            <a:off x="2450064" y="5534151"/>
            <a:ext cx="1400245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40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20:2</a:t>
            </a:r>
            <a:endParaRPr lang="ru-RU" sz="40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8" name="Прямоугольник 17"/>
          <p:cNvSpPr/>
          <p:nvPr/>
        </p:nvSpPr>
        <p:spPr>
          <a:xfrm rot="1052360">
            <a:off x="3910532" y="3722911"/>
            <a:ext cx="1437721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4800" b="1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r>
              <a:rPr lang="en-US" sz="48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</a:t>
            </a:r>
            <a:r>
              <a:rPr lang="ru-RU" sz="48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8</a:t>
            </a:r>
            <a:endParaRPr lang="ru-RU" sz="48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9" name="Прямоугольник 18"/>
          <p:cNvSpPr/>
          <p:nvPr/>
        </p:nvSpPr>
        <p:spPr>
          <a:xfrm>
            <a:off x="2653754" y="639588"/>
            <a:ext cx="1770741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54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3</a:t>
            </a:r>
            <a:r>
              <a:rPr lang="en-US" sz="54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*</a:t>
            </a:r>
            <a:r>
              <a:rPr lang="ru-RU" sz="5400" b="1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7</a:t>
            </a:r>
            <a:endParaRPr lang="ru-RU" sz="5400" b="1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0" name="Прямоугольник 19"/>
          <p:cNvSpPr/>
          <p:nvPr/>
        </p:nvSpPr>
        <p:spPr>
          <a:xfrm rot="14662282">
            <a:off x="3426302" y="887515"/>
            <a:ext cx="1868796" cy="646331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ru-RU" sz="360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4</a:t>
            </a:r>
            <a:r>
              <a:rPr lang="ru-RU" sz="36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.0</a:t>
            </a:r>
            <a:r>
              <a:rPr lang="en-US" sz="36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 </a:t>
            </a:r>
            <a:r>
              <a:rPr lang="ru-RU" sz="36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сек</a:t>
            </a:r>
            <a:endParaRPr lang="ru-RU" sz="36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21" name="Заголовок 1"/>
          <p:cNvSpPr txBox="1">
            <a:spLocks/>
          </p:cNvSpPr>
          <p:nvPr/>
        </p:nvSpPr>
        <p:spPr>
          <a:xfrm>
            <a:off x="6458707" y="2084061"/>
            <a:ext cx="5467681" cy="459523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857250" indent="-857250">
              <a:buFont typeface="Arial" panose="020B0604020202020204" pitchFamily="34" charset="0"/>
              <a:buChar char="•"/>
            </a:pPr>
            <a:r>
              <a:rPr lang="ru-RU" sz="4500" dirty="0">
                <a:latin typeface="Arial" panose="020B0604020202020204" pitchFamily="34" charset="0"/>
                <a:cs typeface="Arial" panose="020B0604020202020204" pitchFamily="34" charset="0"/>
              </a:rPr>
              <a:t>Диапазон </a:t>
            </a:r>
            <a:r>
              <a:rPr lang="ru-RU" sz="4500" dirty="0" smtClean="0">
                <a:latin typeface="Arial" panose="020B0604020202020204" pitchFamily="34" charset="0"/>
                <a:cs typeface="Arial" panose="020B0604020202020204" pitchFamily="34" charset="0"/>
              </a:rPr>
              <a:t>множителей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ru-RU" sz="4500" dirty="0" smtClean="0">
                <a:latin typeface="Arial" panose="020B0604020202020204" pitchFamily="34" charset="0"/>
                <a:cs typeface="Arial" panose="020B0604020202020204" pitchFamily="34" charset="0"/>
              </a:rPr>
              <a:t>Количество примеров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ru-RU" sz="4500" dirty="0" smtClean="0">
                <a:latin typeface="Arial" panose="020B0604020202020204" pitchFamily="34" charset="0"/>
                <a:cs typeface="Arial" panose="020B0604020202020204" pitchFamily="34" charset="0"/>
              </a:rPr>
              <a:t>Время на пример</a:t>
            </a:r>
          </a:p>
          <a:p>
            <a:pPr marL="857250" indent="-857250">
              <a:buFont typeface="Arial" panose="020B0604020202020204" pitchFamily="34" charset="0"/>
              <a:buChar char="•"/>
            </a:pPr>
            <a:r>
              <a:rPr lang="ru-RU" sz="4500" dirty="0">
                <a:latin typeface="Arial" panose="020B0604020202020204" pitchFamily="34" charset="0"/>
                <a:cs typeface="Arial" panose="020B0604020202020204" pitchFamily="34" charset="0"/>
              </a:rPr>
              <a:t>Ш</a:t>
            </a:r>
            <a:r>
              <a:rPr lang="ru-RU" sz="4500" dirty="0" smtClean="0">
                <a:latin typeface="Arial" panose="020B0604020202020204" pitchFamily="34" charset="0"/>
                <a:cs typeface="Arial" panose="020B0604020202020204" pitchFamily="34" charset="0"/>
              </a:rPr>
              <a:t>трафы</a:t>
            </a:r>
            <a:endParaRPr lang="ru-RU" sz="6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7536784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0457" y="147410"/>
            <a:ext cx="11945256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000" dirty="0">
                <a:latin typeface="Arial Black" panose="020B0A04020102020204" pitchFamily="34" charset="0"/>
              </a:rPr>
              <a:t>Как устроен выбор </a:t>
            </a:r>
            <a:r>
              <a:rPr lang="ru-RU" sz="6000" dirty="0" smtClean="0">
                <a:latin typeface="Arial Black" panose="020B0A04020102020204" pitchFamily="34" charset="0"/>
              </a:rPr>
              <a:t>примера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946758560"/>
              </p:ext>
            </p:extLst>
          </p:nvPr>
        </p:nvGraphicFramePr>
        <p:xfrm>
          <a:off x="210458" y="1005838"/>
          <a:ext cx="11749314" cy="5453018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4195119">
                  <a:extLst>
                    <a:ext uri="{9D8B030D-6E8A-4147-A177-3AD203B41FA5}">
                      <a16:colId xmlns:a16="http://schemas.microsoft.com/office/drawing/2014/main" xmlns="" val="1176830032"/>
                    </a:ext>
                  </a:extLst>
                </a:gridCol>
                <a:gridCol w="7554195">
                  <a:extLst>
                    <a:ext uri="{9D8B030D-6E8A-4147-A177-3AD203B41FA5}">
                      <a16:colId xmlns:a16="http://schemas.microsoft.com/office/drawing/2014/main" xmlns="" val="4248977999"/>
                    </a:ext>
                  </a:extLst>
                </a:gridCol>
              </a:tblGrid>
              <a:tr h="27265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4400" b="1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Пример решён правильно </a:t>
                      </a:r>
                      <a:endParaRPr lang="ru-RU" sz="44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4400" b="0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учитывается именно это время ответа на вопрос</a:t>
                      </a:r>
                    </a:p>
                    <a:p>
                      <a:endParaRPr lang="ru-RU" sz="4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3483043639"/>
                  </a:ext>
                </a:extLst>
              </a:tr>
              <a:tr h="2726509">
                <a:tc>
                  <a:txBody>
                    <a:bodyPr/>
                    <a:lstStyle/>
                    <a:p>
                      <a:pPr algn="ctr"/>
                      <a:r>
                        <a:rPr lang="ru-RU" sz="4400" b="1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Пример решён неправильно</a:t>
                      </a:r>
                      <a:endParaRPr lang="ru-RU" sz="44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4400" b="0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время ответа заменяется штрафом за ошибку</a:t>
                      </a:r>
                    </a:p>
                    <a:p>
                      <a:endParaRPr lang="ru-RU" sz="4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5349743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4250636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10457" y="147410"/>
            <a:ext cx="11945256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000" dirty="0">
                <a:latin typeface="Arial Black" panose="020B0A04020102020204" pitchFamily="34" charset="0"/>
              </a:rPr>
              <a:t>Как устроен выбор </a:t>
            </a:r>
            <a:r>
              <a:rPr lang="ru-RU" sz="6000" dirty="0" smtClean="0">
                <a:latin typeface="Arial Black" panose="020B0A04020102020204" pitchFamily="34" charset="0"/>
              </a:rPr>
              <a:t>примера</a:t>
            </a:r>
            <a:r>
              <a:rPr lang="ru-RU" dirty="0"/>
              <a:t/>
            </a:r>
            <a:br>
              <a:rPr lang="ru-RU" dirty="0"/>
            </a:br>
            <a:endParaRPr lang="ru-RU" dirty="0"/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2470090776"/>
              </p:ext>
            </p:extLst>
          </p:nvPr>
        </p:nvGraphicFramePr>
        <p:xfrm>
          <a:off x="210457" y="1005839"/>
          <a:ext cx="11807372" cy="5718961"/>
        </p:xfrm>
        <a:graphic>
          <a:graphicData uri="http://schemas.openxmlformats.org/drawingml/2006/table">
            <a:tbl>
              <a:tblPr firstRow="1" bandRow="1">
                <a:tableStyleId>{C4B1156A-380E-4F78-BDF5-A606A8083BF9}</a:tableStyleId>
              </a:tblPr>
              <a:tblGrid>
                <a:gridCol w="4215849">
                  <a:extLst>
                    <a:ext uri="{9D8B030D-6E8A-4147-A177-3AD203B41FA5}">
                      <a16:colId xmlns:a16="http://schemas.microsoft.com/office/drawing/2014/main" xmlns="" val="1176830032"/>
                    </a:ext>
                  </a:extLst>
                </a:gridCol>
                <a:gridCol w="7591523">
                  <a:extLst>
                    <a:ext uri="{9D8B030D-6E8A-4147-A177-3AD203B41FA5}">
                      <a16:colId xmlns:a16="http://schemas.microsoft.com/office/drawing/2014/main" xmlns="" val="4248977999"/>
                    </a:ext>
                  </a:extLst>
                </a:gridCol>
              </a:tblGrid>
              <a:tr h="2667394">
                <a:tc>
                  <a:txBody>
                    <a:bodyPr/>
                    <a:lstStyle/>
                    <a:p>
                      <a:pPr algn="ctr"/>
                      <a:r>
                        <a:rPr lang="ru-RU" sz="4400" b="1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Пример не решён вовремя</a:t>
                      </a:r>
                      <a:endParaRPr lang="ru-RU" sz="44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4400" b="0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время ответа заменяется штрафом за превышение времени</a:t>
                      </a:r>
                    </a:p>
                    <a:p>
                      <a:endParaRPr lang="ru-RU" sz="4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099716857"/>
                  </a:ext>
                </a:extLst>
              </a:tr>
              <a:tr h="2945281">
                <a:tc>
                  <a:txBody>
                    <a:bodyPr/>
                    <a:lstStyle/>
                    <a:p>
                      <a:pPr algn="ctr"/>
                      <a:r>
                        <a:rPr lang="ru-RU" sz="4400" b="1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Пример не встречался ранее </a:t>
                      </a:r>
                      <a:endParaRPr lang="ru-RU" sz="44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4400" b="0" kern="1200" dirty="0" smtClean="0"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время ответа заменяется штрафом за новый пример</a:t>
                      </a:r>
                    </a:p>
                    <a:p>
                      <a:endParaRPr lang="ru-RU" sz="4400" b="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xmlns="" val="27900907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11379995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"/>
            <a:ext cx="8951154" cy="681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6036776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621" y="0"/>
            <a:ext cx="9016604" cy="676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9742536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851" y="105835"/>
            <a:ext cx="9625801" cy="6752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1491309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966" y="0"/>
            <a:ext cx="10476411" cy="6729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0091963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072938" cy="169068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Испытания программы в классе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5121926" y="1690689"/>
            <a:ext cx="6817526" cy="511314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Рисунок 9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17373" t="14771"/>
          <a:stretch/>
        </p:blipFill>
        <p:spPr>
          <a:xfrm>
            <a:off x="156753" y="1802675"/>
            <a:ext cx="4836213" cy="374139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xmlns="" val="3413917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072938" cy="169068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Испытания программы в классе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146717" y="2286000"/>
            <a:ext cx="5629636" cy="422222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8" name="Рисунок 7"/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 xmlns="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5918902" y="2112693"/>
            <a:ext cx="6029795" cy="452234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xmlns="" val="4983670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1"/>
            <a:ext cx="12072938" cy="1690688"/>
          </a:xfrm>
        </p:spPr>
        <p:txBody>
          <a:bodyPr>
            <a:normAutofit fontScale="90000"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Испытания программы в классе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92864" y="1536234"/>
            <a:ext cx="6555160" cy="491637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Рисунок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tretch>
            <a:fillRect/>
          </a:stretch>
        </p:blipFill>
        <p:spPr>
          <a:xfrm>
            <a:off x="6740888" y="2786667"/>
            <a:ext cx="5305926" cy="397944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xmlns="" val="36598943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Итоги</a:t>
            </a:r>
            <a:r>
              <a:rPr lang="en-US" sz="6000" dirty="0" smtClean="0">
                <a:latin typeface="Arial Black" panose="020B0A04020102020204" pitchFamily="34" charset="0"/>
              </a:rPr>
              <a:t> 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0" y="1578881"/>
            <a:ext cx="11678194" cy="5109301"/>
          </a:xfrm>
        </p:spPr>
        <p:txBody>
          <a:bodyPr>
            <a:normAutofit/>
          </a:bodyPr>
          <a:lstStyle/>
          <a:p>
            <a:pPr lvl="0"/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Программа работает на 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Windows </a:t>
            </a:r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и </a:t>
            </a:r>
            <a:r>
              <a:rPr lang="en-US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Linux</a:t>
            </a:r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40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Программа подстраивается под прогресс пользователя (примеры</a:t>
            </a:r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, которые вызывают сложность, </a:t>
            </a:r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попадаются чаще).</a:t>
            </a:r>
          </a:p>
          <a:p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Все настройки находятся в отдельном месте и легко меняются.</a:t>
            </a:r>
          </a:p>
          <a:p>
            <a:r>
              <a:rPr lang="ru-RU" sz="4000" dirty="0" smtClean="0">
                <a:latin typeface="Arial" panose="020B0604020202020204" pitchFamily="34" charset="0"/>
                <a:cs typeface="Arial" panose="020B0604020202020204" pitchFamily="34" charset="0"/>
              </a:rPr>
              <a:t>Программа выводит статистику результатов.</a:t>
            </a:r>
            <a:endParaRPr lang="ru-RU" sz="4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ru-RU" dirty="0"/>
          </a:p>
          <a:p>
            <a:pPr marL="0" indent="0" algn="ctr">
              <a:buNone/>
            </a:pPr>
            <a:endParaRPr lang="ru-RU" sz="5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Relieved Face Emoji (U+1F60C)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/>
          <a:stretch>
            <a:fillRect/>
          </a:stretch>
        </p:blipFill>
        <p:spPr bwMode="auto">
          <a:xfrm>
            <a:off x="7679781" y="557053"/>
            <a:ext cx="941705" cy="9417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xmlns="" val="3488477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29993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Итоги </a:t>
            </a:r>
            <a:r>
              <a:rPr lang="en-US" sz="6000" dirty="0" smtClean="0">
                <a:latin typeface="Arial Black" panose="020B0A04020102020204" pitchFamily="34" charset="0"/>
              </a:rPr>
              <a:t> 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82881" y="1322023"/>
            <a:ext cx="11678192" cy="1164319"/>
          </a:xfrm>
        </p:spPr>
        <p:txBody>
          <a:bodyPr>
            <a:normAutofit/>
          </a:bodyPr>
          <a:lstStyle/>
          <a:p>
            <a:pPr lvl="0"/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Нет поддержки нескольких </a:t>
            </a:r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пользователей</a:t>
            </a:r>
            <a:r>
              <a:rPr lang="ru-RU" sz="3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endParaRPr lang="ru-RU" sz="5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838199" y="2161041"/>
            <a:ext cx="10670177" cy="110358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6000" dirty="0" smtClean="0">
                <a:latin typeface="Arial Black" panose="020B0A04020102020204" pitchFamily="34" charset="0"/>
              </a:rPr>
              <a:t>Итоги </a:t>
            </a:r>
            <a:r>
              <a:rPr lang="en-US" sz="6000" dirty="0" smtClean="0">
                <a:latin typeface="Arial Black" panose="020B0A04020102020204" pitchFamily="34" charset="0"/>
              </a:rPr>
              <a:t> </a:t>
            </a:r>
            <a:endParaRPr lang="ru-RU" sz="6000" dirty="0">
              <a:latin typeface="Arial Black" panose="020B0A04020102020204" pitchFamily="34" charset="0"/>
            </a:endParaRPr>
          </a:p>
        </p:txBody>
      </p:sp>
      <p:sp>
        <p:nvSpPr>
          <p:cNvPr id="5" name="Объект 2"/>
          <p:cNvSpPr txBox="1">
            <a:spLocks/>
          </p:cNvSpPr>
          <p:nvPr/>
        </p:nvSpPr>
        <p:spPr>
          <a:xfrm>
            <a:off x="274321" y="2860765"/>
            <a:ext cx="11795760" cy="36445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ru-RU" dirty="0" smtClean="0"/>
          </a:p>
          <a:p>
            <a:r>
              <a:rPr lang="ru-RU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Добавить автоматический переход к следующему примеру сразу после завершения отведенного на пример времени.</a:t>
            </a:r>
          </a:p>
          <a:p>
            <a:r>
              <a:rPr lang="ru-RU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Добавить звуковое сопровождение (3 разных звука: для правильного ввода, для ошибки и для тайм-аута).</a:t>
            </a:r>
          </a:p>
          <a:p>
            <a:r>
              <a:rPr lang="ru-RU" sz="3200" dirty="0" smtClean="0">
                <a:latin typeface="Arial" panose="020B0604020202020204" pitchFamily="34" charset="0"/>
                <a:cs typeface="Arial" panose="020B0604020202020204" pitchFamily="34" charset="0"/>
              </a:rPr>
              <a:t>Добавить представление прогресса каждого пользователя за период времени.</a:t>
            </a:r>
            <a:endParaRPr lang="ru-RU" sz="5400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28" name="Picture 4" descr="Smiley Having an Idea! | Symbols &amp; Emoticons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l="25558" r="20401"/>
          <a:stretch/>
        </p:blipFill>
        <p:spPr bwMode="auto">
          <a:xfrm>
            <a:off x="7550331" y="2062388"/>
            <a:ext cx="1162595" cy="11294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 xmlns="">
                  <a14:imgLayer r:embed="rId4">
                    <a14:imgEffect>
                      <a14:brightnessContrast bright="20000" contrast="-20000"/>
                    </a14:imgEffect>
                  </a14:imgLayer>
                </a14:imgProps>
              </a:ext>
            </a:extLst>
          </a:blip>
          <a:srcRect l="14471" t="22584" r="15225" b="24323"/>
          <a:stretch/>
        </p:blipFill>
        <p:spPr>
          <a:xfrm>
            <a:off x="7866560" y="246537"/>
            <a:ext cx="952354" cy="95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27663227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1881</TotalTime>
  <Words>312</Words>
  <Application>Microsoft Office PowerPoint</Application>
  <PresentationFormat>Произвольный</PresentationFormat>
  <Paragraphs>65</Paragraphs>
  <Slides>17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18" baseType="lpstr">
      <vt:lpstr>Тема Office</vt:lpstr>
      <vt:lpstr>Программа-тренажёр для тренировки таблицы умножения</vt:lpstr>
      <vt:lpstr>Актуальность</vt:lpstr>
      <vt:lpstr>Цель</vt:lpstr>
      <vt:lpstr>Задачи</vt:lpstr>
      <vt:lpstr>Выбор языка программирования</vt:lpstr>
      <vt:lpstr>Настройки программы:</vt:lpstr>
      <vt:lpstr>Как устроен выбор примера </vt:lpstr>
      <vt:lpstr>Как устроен выбор примера </vt:lpstr>
      <vt:lpstr>Слайд 9</vt:lpstr>
      <vt:lpstr>Слайд 10</vt:lpstr>
      <vt:lpstr>Слайд 11</vt:lpstr>
      <vt:lpstr>Слайд 12</vt:lpstr>
      <vt:lpstr>Испытания программы в классе</vt:lpstr>
      <vt:lpstr>Испытания программы в классе</vt:lpstr>
      <vt:lpstr>Испытания программы в классе</vt:lpstr>
      <vt:lpstr>Итоги </vt:lpstr>
      <vt:lpstr>Итоги  </vt:lpstr>
    </vt:vector>
  </TitlesOfParts>
  <Company/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Программа-тренажёр для тренировки таблицы умножения</dc:title>
  <dc:creator>Мария</dc:creator>
  <cp:lastModifiedBy>Фирсова</cp:lastModifiedBy>
  <cp:revision>44</cp:revision>
  <dcterms:created xsi:type="dcterms:W3CDTF">2025-01-25T13:35:16Z</dcterms:created>
  <dcterms:modified xsi:type="dcterms:W3CDTF">2026-02-10T08:39:40Z</dcterms:modified>
</cp:coreProperties>
</file>